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c985445fe475e" /><Relationship Type="http://schemas.openxmlformats.org/officeDocument/2006/relationships/extended-properties" Target="/docProps/app.xml" Id="Rf9860230ec7b49da" /><Relationship Type="http://schemas.openxmlformats.org/officeDocument/2006/relationships/officeDocument" Target="/ppt/presentation.xml" Id="Rd6bc243451eb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b47142a6c94c95"/>
  </p:sldMasterIdLst>
  <p:notesMasterIdLst>
    <p:notesMasterId xmlns:r="http://schemas.openxmlformats.org/officeDocument/2006/relationships" r:id="R2fb865fc350c4829"/>
  </p:notesMasterIdLst>
  <p:sldIdLst>
    <p:sldId xmlns:r="http://schemas.openxmlformats.org/officeDocument/2006/relationships" id="256" r:id="Rc70afd52b055438e"/>
    <p:sldId xmlns:r="http://schemas.openxmlformats.org/officeDocument/2006/relationships" id="257" r:id="R2c80677f4af9452e"/>
    <p:sldId xmlns:r="http://schemas.openxmlformats.org/officeDocument/2006/relationships" id="258" r:id="R40fd3109b5774ddb"/>
    <p:sldId xmlns:r="http://schemas.openxmlformats.org/officeDocument/2006/relationships" id="259" r:id="Rd8be9d483dc64498"/>
    <p:sldId xmlns:r="http://schemas.openxmlformats.org/officeDocument/2006/relationships" id="260" r:id="Rba351525323247a6"/>
    <p:sldId xmlns:r="http://schemas.openxmlformats.org/officeDocument/2006/relationships" id="261" r:id="R459db96285124bb0"/>
    <p:sldId xmlns:r="http://schemas.openxmlformats.org/officeDocument/2006/relationships" id="262" r:id="R9a6a498c5c61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f7113388f54940" /><Relationship Type="http://schemas.openxmlformats.org/officeDocument/2006/relationships/slideMaster" Target="/ppt/slideMasters/slideMaster1.xml" Id="R7cb47142a6c94c95" /><Relationship Type="http://schemas.openxmlformats.org/officeDocument/2006/relationships/notesMaster" Target="/ppt/notesMasters/notesMaster1.xml" Id="R2fb865fc350c4829" /><Relationship Type="http://schemas.openxmlformats.org/officeDocument/2006/relationships/presProps" Target="/ppt/presProps.xml" Id="R95ba261062c24245" /><Relationship Type="http://schemas.openxmlformats.org/officeDocument/2006/relationships/tableStyles" Target="/ppt/tableStyles.xml" Id="Rc696597c9b8e40c0" /><Relationship Type="http://schemas.openxmlformats.org/officeDocument/2006/relationships/slide" Target="/ppt/slides/slide1.xml" Id="Rc70afd52b055438e" /><Relationship Type="http://schemas.openxmlformats.org/officeDocument/2006/relationships/slide" Target="/ppt/slides/slide2.xml" Id="R2c80677f4af9452e" /><Relationship Type="http://schemas.openxmlformats.org/officeDocument/2006/relationships/slide" Target="/ppt/slides/slide3.xml" Id="R40fd3109b5774ddb" /><Relationship Type="http://schemas.openxmlformats.org/officeDocument/2006/relationships/slide" Target="/ppt/slides/slide4.xml" Id="Rd8be9d483dc64498" /><Relationship Type="http://schemas.openxmlformats.org/officeDocument/2006/relationships/slide" Target="/ppt/slides/slide5.xml" Id="Rba351525323247a6" /><Relationship Type="http://schemas.openxmlformats.org/officeDocument/2006/relationships/slide" Target="/ppt/slides/slide6.xml" Id="R459db96285124bb0" /><Relationship Type="http://schemas.openxmlformats.org/officeDocument/2006/relationships/slide" Target="/ppt/slides/slide7.xml" Id="R9a6a498c5c61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eed5e01371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4c08e37c14faa" /><Relationship Type="http://schemas.openxmlformats.org/officeDocument/2006/relationships/notesMaster" Target="/ppt/notesMasters/notesMaster1.xml" Id="R233754efa0a346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f24a69c13040de" /><Relationship Type="http://schemas.openxmlformats.org/officeDocument/2006/relationships/notesMaster" Target="/ppt/notesMasters/notesMaster1.xml" Id="Rb1c88da79588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846297fc64832" /><Relationship Type="http://schemas.openxmlformats.org/officeDocument/2006/relationships/notesMaster" Target="/ppt/notesMasters/notesMaster1.xml" Id="Rb7f99d28ccf04d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c3e69416a74a50" /><Relationship Type="http://schemas.openxmlformats.org/officeDocument/2006/relationships/notesMaster" Target="/ppt/notesMasters/notesMaster1.xml" Id="R0c4e03bfe2ff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fdeaef0e154b93" /><Relationship Type="http://schemas.openxmlformats.org/officeDocument/2006/relationships/notesMaster" Target="/ppt/notesMasters/notesMaster1.xml" Id="R485a6310eeaf46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4050a47d94755" /><Relationship Type="http://schemas.openxmlformats.org/officeDocument/2006/relationships/notesMaster" Target="/ppt/notesMasters/notesMaster1.xml" Id="Rb8ec21bee29448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7286dc92494c7b" /><Relationship Type="http://schemas.openxmlformats.org/officeDocument/2006/relationships/notesMaster" Target="/ppt/notesMasters/notesMaster1.xml" Id="Ra252efd951e7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generated for this presentation. The ECU and AI review interface remain visually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process image provided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222e2c589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3453e784984b1a" /><Relationship Type="http://schemas.openxmlformats.org/officeDocument/2006/relationships/slideLayout" Target="/ppt/slideLayouts/slideLayout1.xml" Id="R67068e3237f9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068e3237f9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507e113464df7" /><Relationship Type="http://schemas.openxmlformats.org/officeDocument/2006/relationships/image" Target="/ppt/media/image.png" Id="R6d815a14e53649bf" /><Relationship Type="http://schemas.openxmlformats.org/officeDocument/2006/relationships/notesSlide" Target="/ppt/notesSlides/notesSlide1.xml" Id="R2499443ea75042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685503ae84f12" /><Relationship Type="http://schemas.openxmlformats.org/officeDocument/2006/relationships/notesSlide" Target="/ppt/notesSlides/notesSlide2.xml" Id="R1d5f9be2cbb4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af06c1424991" /><Relationship Type="http://schemas.openxmlformats.org/officeDocument/2006/relationships/notesSlide" Target="/ppt/notesSlides/notesSlide3.xml" Id="R88ba5ebe784542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e6e9ed9674b06" /><Relationship Type="http://schemas.openxmlformats.org/officeDocument/2006/relationships/notesSlide" Target="/ppt/notesSlides/notesSlide4.xml" Id="R30b10843f69e4b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1d01a50c41fa" /><Relationship Type="http://schemas.openxmlformats.org/officeDocument/2006/relationships/notesSlide" Target="/ppt/notesSlides/notesSlide5.xml" Id="R525145c42e8a4e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4af3b7c8c4a7f" /><Relationship Type="http://schemas.openxmlformats.org/officeDocument/2006/relationships/image" Target="/ppt/media/image2.png" Id="Ra5663207cd0f40b4" /><Relationship Type="http://schemas.openxmlformats.org/officeDocument/2006/relationships/notesSlide" Target="/ppt/notesSlides/notesSlide6.xml" Id="R5ac5765071b943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adbd53b24640" /><Relationship Type="http://schemas.openxmlformats.org/officeDocument/2006/relationships/notesSlide" Target="/ppt/notesSlides/notesSlide7.xml" Id="R7b746342882b4d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15a14e53649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439E6-6F71-4976-912B-84210B67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OBD AI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FA621-6468-43CD-B936-1BFDF9AF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C4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4E3F3"/>
                </a:solidFill>
                <a:latin typeface="Helvetica Neue"/>
                <a:ea typeface="Helvetica Neue"/>
                <a:cs typeface="Helvetica Neue"/>
              </a:rPr>
              <a:t>Indexed evidence for faster, consistent embedded software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BB290-42AD-4B4A-90A2-C74FA4B9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8557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2DA25-60F0-4151-BA33-09152B8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1906A-0E5F-4FE4-B3B2-58B3D422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Purpose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60887-EADA-4F2C-8AD6-6775D94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OBD AI Review creates a searchable technical memory for a selected repository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B957-1197-48FF-9312-870C894D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3A750-CCB2-44D8-B165-E1BF6BF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69F10-2313-42C9-B53D-0866B72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4562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Build technical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CE747-8508-4AD5-8E67-F59CF96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Indexes C functions, variables, macros, GRL blocks, file locations and Git revision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5814F-0A50-4EC4-B024-F661ED2A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B215C-6713-45E7-A81B-D37ED31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3775"/>
            <a:ext cx="4562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Retrieve focused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37137-DB46-4C94-9030-E6C985D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Finds exact implementations, related functions, source context and the relevant specification 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03014-C615-4CA4-91F8-F4411C6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64680-8489-4554-9D18-DC939D6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4562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Support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93858-630B-4923-855E-F4F5B5BD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Supplies the AI with a small evidence set for findings, differences, risks and recommendations.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625B6-067B-441F-9909-C415CD56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81225"/>
            <a:ext cx="38100" cy="360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98AC0-0744-40F0-97C3-46784ECD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Current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29617-9CC3-493D-80C9-AA17949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14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86794-B684-4313-8356-7663CAE1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38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C source code and GRL files from a selected Git revision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9A3B4-3CE2-4533-833F-3CB8D52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052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Specification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65B68-B8B1-4FD1-9EE1-9240B31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291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TXT files from the module specification 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86AB4-A92A-4D59-93EB-E27425C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200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Planned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D0546-8058-42D1-A121-E685292C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524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LIMAS can be added later through the specification provider interface.</a:t>
            </a:r>
          </a:p>
        </p:txBody>
      </p:sp>
    </p:spTree>
    <p:extLst>
      <p:ext uri="{BB962C8B-B14F-4D97-AF65-F5344CB8AC3E}">
        <p14:creationId xmlns:p14="http://schemas.microsoft.com/office/powerpoint/2010/main" val="73547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F50E2-2782-419A-A389-70234725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68E7F-A98A-4F3C-B5F5-CCB9609E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Two operating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08FCC-BEC4-40FB-9E6A-A4E5AF3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The database is built separately from the interactive review, so repeated questions stay fast.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946E8-45A1-4874-AC13-59E96D03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1FAED-C4DC-4F22-BB1B-A75680F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679AA-EB88-4B1A-B438-DEDB5C5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02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Build or update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1A685-9E7D-4ED7-B356-1053950F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Resolve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EBAE-F3A2-4E03-A434-1E8D91C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Fetch the repository and select the requested commit.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81096-F894-44B9-BB67-DA2CB65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Create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1DC4C-CB4C-4295-A8D7-E51638C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814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Read an immutable copy without changing the worktree.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5C163-2475-4524-9F93-B18795FA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767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Parse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CEF6B-F214-409A-83E0-FDFC15E8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767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Extract functions, symbols, GRL and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407BF-2733-4EAF-862C-745CA861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Store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5CD2B-0D63-486D-9FED-0CF3876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Save relationships and fingerprints in SQLite.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0C252-D89B-4F3C-B0F1-FDE6D405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6C5DF-1299-4DC3-80E5-CC6D448A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48EDB-D4C8-4291-A9A0-CD961F2A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02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Review or 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5DB55-55BA-4E7D-9181-5DBE211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860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Understand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3C0E1-E188-4AE0-8193-A354875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8607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Identify the function, behavior or requirement in scope.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346FB-D212-4CCD-B5AB-92C50CB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Search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53DAC-CCED-4C25-9FE6-A2EA9479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814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Use names, exact hashes, similarity and GRL identifiers.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24D00-9D1E-4CEC-8220-BABEDBB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767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Load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02F81-413E-496A-8600-C98787D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767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Retrieve only the relevant code and specification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C1061-C5F5-424C-B8FA-331356B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Produce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5EE4C-3279-44C9-ABAD-5CF3CC4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72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Present findings, differences, risks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931673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67980-8D6E-4EE3-9F06-BCD046F5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D7A70-F4C7-4631-B655-B3B9BA4E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Code matching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E830B-B2E6-498A-A14C-CA19986C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Exact reuse and structural similarity answer different review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22878-2607-444D-BB1C-61C39C6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16761-B66D-4A7D-B88F-A7326FD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Exact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7E75A-AE0C-473D-AEB7-2C772ED4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Normalization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94C1D-11AD-42B6-8A56-53B614D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Converts line endings, removes trailing spaces and trims only the outer whitespace.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159C-6E94-4AFB-8180-9188C91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D651C-4CD9-43D3-86D1-9915FC40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SHA-256 identifies byte-equivalent normalized implementations. One record can link to several occurrences.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E0755-A648-436C-903E-6071502A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B5F33-6462-4ABF-A025-2B3E864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02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Similar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87F02-9D19-4AD9-AA18-CBD8CE4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Token fingerprint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96722-4E71-4E7A-93C2-C5613B92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Tree-sitter tokenizes C code. Comments are ignored, while names and literals are generalized.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0C706-6B1B-4900-8359-8AEDF72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Similarity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8C124-BC17-4C58-BBCE-3A899A0E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481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The engine compares 5-token shingles with Jaccard similarity and returns the shared percentage.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607EE-5F76-4E16-BBEB-121B2DD5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6257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4301B-7083-485A-A8E7-A503E309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38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same normalized fingerprint</a:t>
            </a:r>
          </a:p>
        </p:txBody>
      </p:sp>
    </p:spTree>
    <p:extLst>
      <p:ext uri="{BB962C8B-B14F-4D97-AF65-F5344CB8AC3E}">
        <p14:creationId xmlns:p14="http://schemas.microsoft.com/office/powerpoint/2010/main" val="1965602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FC997-D50F-4712-8B67-ED2E5A6E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4BB32-A4C7-4EBA-A506-72F7344C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Review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44C3E-F677-4C7C-A4DF-CCB1804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Scripts handle deterministic work. The AI interprets the retrieved evidence and presents the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B4411-D4BD-4818-BFE7-31A6102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5" name="workflow-01">
            <a:extLst xmlns:a="http://schemas.openxmlformats.org/drawingml/2006/main">
              <a:ext uri="{FF2B5EF4-FFF2-40B4-BE49-F238E27FC236}">
                <a16:creationId xmlns:a16="http://schemas.microsoft.com/office/drawing/2014/main" id="{D74E8541-9C94-4F64-BE49-4A2A0FC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E8038-ACB1-4EF8-94C4-55C0EF4C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E6B41-0C51-4CA9-A158-43831CD1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Repository +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41F57-00ED-4339-B6C4-64B18F81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148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Selected revision</a:t>
            </a:r>
          </a:p>
        </p:txBody>
      </p:sp>
      <p:sp>
        <p:nvSpPr>
          <p:cNvPr id="9" name="workflow-02">
            <a:extLst xmlns:a="http://schemas.openxmlformats.org/drawingml/2006/main">
              <a:ext uri="{FF2B5EF4-FFF2-40B4-BE49-F238E27FC236}">
                <a16:creationId xmlns:a16="http://schemas.microsoft.com/office/drawing/2014/main" id="{0BC70D5D-4548-4E1D-BB3C-6897F6E9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07B2B-6DF6-4CFF-9938-BA3C642F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6C54-1047-4EA3-995E-7753786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338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Safe 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2096B-815D-4311-A77B-74CE154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148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No worktree changes</a:t>
            </a:r>
          </a:p>
        </p:txBody>
      </p:sp>
      <p:sp>
        <p:nvSpPr>
          <p:cNvPr id="13" name="workflow-03">
            <a:extLst xmlns:a="http://schemas.openxmlformats.org/drawingml/2006/main">
              <a:ext uri="{FF2B5EF4-FFF2-40B4-BE49-F238E27FC236}">
                <a16:creationId xmlns:a16="http://schemas.microsoft.com/office/drawing/2014/main" id="{2529FA59-FD57-4E8E-9A61-BDCC76B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374C9-7B5C-4F07-A014-7BCDC952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0179-CED8-4C2A-8D7D-5B953D15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Parse +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7D545-34B0-4EAC-A8F5-2265DAB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148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Code, GRL, metadata</a:t>
            </a:r>
          </a:p>
        </p:txBody>
      </p:sp>
      <p:sp>
        <p:nvSpPr>
          <p:cNvPr id="17" name="workflow-04">
            <a:extLst xmlns:a="http://schemas.openxmlformats.org/drawingml/2006/main">
              <a:ext uri="{FF2B5EF4-FFF2-40B4-BE49-F238E27FC236}">
                <a16:creationId xmlns:a16="http://schemas.microsoft.com/office/drawing/2014/main" id="{8AF547C1-EF3D-46F8-B2FC-EAC460D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05943-8AE9-438B-A1AC-3EC4BE6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49F6D-F6A8-49A8-95D8-7EB5D770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338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AB41D-145D-4046-BB31-E28553F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148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Indexed knowledge</a:t>
            </a:r>
          </a:p>
        </p:txBody>
      </p:sp>
      <p:sp>
        <p:nvSpPr>
          <p:cNvPr id="21" name="workflow-05">
            <a:extLst xmlns:a="http://schemas.openxmlformats.org/drawingml/2006/main">
              <a:ext uri="{FF2B5EF4-FFF2-40B4-BE49-F238E27FC236}">
                <a16:creationId xmlns:a16="http://schemas.microsoft.com/office/drawing/2014/main" id="{99C64874-4EAF-4EA5-AA3E-280513F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01418-6156-4464-8B66-5BCBF6D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D5F18-67DD-4C02-967F-8921861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Targeted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4439C-C122-40E9-991D-19076AB0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148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Bounded evidence</a:t>
            </a:r>
          </a:p>
        </p:txBody>
      </p:sp>
      <p:sp>
        <p:nvSpPr>
          <p:cNvPr id="25" name="workflow-06">
            <a:extLst xmlns:a="http://schemas.openxmlformats.org/drawingml/2006/main">
              <a:ext uri="{FF2B5EF4-FFF2-40B4-BE49-F238E27FC236}">
                <a16:creationId xmlns:a16="http://schemas.microsoft.com/office/drawing/2014/main" id="{6E28B152-DBD2-4750-AD58-30C7733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990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4A73E-EDCE-4589-AD42-BC6CAF9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990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CD629-4DCC-44F8-9EBE-6A3688E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733800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AI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BD520-53E7-4533-8CEB-5AC9CA2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14825"/>
            <a:ext cx="1590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Findings and risks</a:t>
            </a:r>
          </a:p>
        </p:txBody>
      </p:sp>
      <p:cxnSp>
        <p:nvCxnSpPr>
          <p:cNvPr id="63" name=""/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895350" y="32289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B7D9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847975" y="32289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B7D9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4800600" y="32289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B7D9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6753225" y="32289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B7D9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21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8705850" y="32289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B7D9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F6D68-DE89-412F-A16F-CC1000F9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The scripts reduce token use because the AI reads a focused result set rather than the full repository.</a:t>
            </a:r>
          </a:p>
        </p:txBody>
      </p:sp>
    </p:spTree>
    <p:extLst>
      <p:ext uri="{BB962C8B-B14F-4D97-AF65-F5344CB8AC3E}">
        <p14:creationId xmlns:p14="http://schemas.microsoft.com/office/powerpoint/2010/main" val="566969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63207cd0f40b4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13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A948B-452F-4536-900C-36AABD28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BD65-8825-4B1F-9B91-F698A05E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Design strengths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3052F-EB3F-4182-9912-74FC714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The architecture supports repeatable reviews without changing the analyzed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7B05-228D-41F6-814A-625A1E37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B7E6-B929-440E-8C22-32A971A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7D93E-9231-4BE3-B5BF-0A072817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B8440-808D-4EBE-999B-5A2510C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Scripts provide repeatable indexing, lookup and comparison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99063-0450-42CE-82B6-0988A227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2860D-8773-4E92-8294-5092A6C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A4F21-C645-4867-9D37-52840DF0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4BE1B-5F62-4863-9A88-2945B3B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622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Every occurrence links to a source file, line range and Git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78D6F-DFC9-4D9A-9FF4-16C19E2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AE5C3-0FAB-4614-8D35-0B3F45DF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D7D30-CD34-474D-8D38-467323C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Token efficient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6C48D-207B-47F0-87F7-CA64841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Queries return only the functions and context needed for the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EC490-E0ED-48D1-8B6C-3520AD12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131EB-24A0-48E8-AE6D-87D1C5B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9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3581F-62DE-47B8-AC1F-640A9696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86459-517B-4A57-8B30-0FA1012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Immutable snapshots protect the repository and any local work in progress.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BBF84-F7BC-478E-9A70-6B38722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C9EB1-DB98-4CEF-8062-BF3B7123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DC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A6E83-237F-4732-89F3-8937A1AE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67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2D"/>
                </a:solidFill>
                <a:latin typeface="Helvetica Neue"/>
                <a:ea typeface="Helvetica Neue"/>
                <a:cs typeface="Helvetica Neue"/>
              </a:rPr>
              <a:t>Portable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4829E-7AA8-4F70-85DF-E25087A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768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9"/>
                </a:solidFill>
                <a:latin typeface="Helvetica Neue"/>
                <a:ea typeface="Helvetica Neue"/>
                <a:cs typeface="Helvetica Neue"/>
              </a:rPr>
              <a:t>SQLite stores the index locally without a separate database server.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86150-3E3F-4FFD-B19E-1DE3E324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5523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2026-09-25T17:48:24.2660000Z</dcterms:created>
  <dcterms:modified xsi:type="dcterms:W3CDTF">2026-09-25T17:48:24.2660000Z</dcterms:modified>
</coreProperties>
</file>